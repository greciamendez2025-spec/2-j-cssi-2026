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3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>
        <p:scale>
          <a:sx n="100" d="100"/>
          <a:sy n="100" d="100"/>
        </p:scale>
        <p:origin x="-3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9D49D-E058-440F-B9DE-10758F3D0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767031-F679-407A-B53A-F6185EBF4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4A7A27-A237-4A85-801E-B49FE943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C33E4F-E493-420C-A483-41D088A2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809E2-AAD1-4C46-93A1-9748F971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844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B56D7-4775-4377-82E0-5361D031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6E08FB-755C-4C7D-9E66-6BA438C83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6B00A5-1FAE-4278-99D7-53CC04E6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C7EFDB-0948-4D01-AC40-CBD02AFE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92F1B1-48E5-4DF0-8B15-8D98ECDB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808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33360-156D-4F72-8DBF-B0DAD586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233E8-B2B1-4778-9795-960657DBE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626D5-CBFA-4637-948E-5A6CC982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EED7F8-E630-46C3-9A67-3D5DD113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07FB9-67AD-4C50-B12E-359E5842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255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9E36A-31B3-44F2-91AE-C36D6F74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53128-BBF6-4642-899E-C65884C48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B89852-0AFB-47F5-A251-C925D5E58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0C2FB5-0399-46E3-96C1-1BE0E6F1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8AD416-0855-4573-8651-B998247D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2D846C-14F0-43E7-9C24-238299A2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681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7A85F-2635-4332-B5FF-63E7F365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2DA05D-4DEA-496A-ABFA-AAD63629B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B307B3-E9A5-49CA-8ABF-E119AAB3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98BF4A-74CF-4F1E-B1D1-C6626993D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65A6F-CD4A-4F0A-9865-2D1CC9DF2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826573-ADEC-4279-9B77-83AE1704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D9C4BC-74A7-4A62-98AA-107CC23F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23F45A-1E78-447B-BF97-80C92DD4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1A8EC-15A0-4ACC-8CB5-2FFD7607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08464B-71E4-429C-A8DB-5403EFEE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9F2D2BC-D081-4684-9AB6-430223A7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FBDE19-D5C9-4EF0-BD1D-9AA3D7F9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6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7ECD20-12AE-4BC9-9BCA-20874FB2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FCD666-86B5-49FE-85D6-F710EB41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7D2186-173B-4F1E-8FC0-FEF38DA0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045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AB0A4-E594-42DA-A0AD-EF68A1FF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92268-5947-4AE1-923E-E62B050E1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DED2C6-4EE0-478C-AB01-039D9A3B7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64A52D-61D2-4042-9B01-EE890515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8CB496-83D4-45E9-B334-2A51B3B3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54AEB5-E90F-4DA9-84CB-79568ABE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469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E13B2-8D74-4DA9-A443-386EA404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A2FCEB-8342-423B-8FAF-1D1373363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C46620-0954-400C-B5B2-F33EA5DD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29980F-E155-4145-815A-3D541398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E22B1-976A-4F55-B734-2D9DB379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72C9A4-436B-4C04-9AB0-D780929A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723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AF164-85A2-4BEF-994C-047DB365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03AE60-BD60-4800-B408-B1DA2D369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4D6558-C8B1-499B-AE38-D6541E9C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8E41DC-9508-42B1-9238-6DBB9DC5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5118C2-4C2E-46D8-BD76-074C4F4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14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60150D-8B65-4ADA-8915-3FF979A28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63A9DD-6BA6-451B-8812-31F9D13A4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95EA5-4666-4031-A6A5-9281F308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851C9-07AB-499A-AFC2-AF5EADF1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5504C-356B-47DB-9A93-F0C06B51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052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C2C3C9-412A-499E-AC70-69A9E958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575DE8-D0F0-4F37-B91F-29BE1E6AB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F4CA55-EAAE-4D5C-B88D-0D4AC798C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68950-ED61-4DD7-B51A-C255C9F2FCEC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1EF3D7-F608-4550-893D-D8F97E16D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EB9F0D-F5A8-4C6B-9786-564C14379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5576C-A73C-4FCE-834D-82FEC1A468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673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68C75-9F26-459E-9DC9-040F01AFD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292" y="405671"/>
            <a:ext cx="9144000" cy="1484913"/>
          </a:xfrm>
        </p:spPr>
        <p:txBody>
          <a:bodyPr>
            <a:normAutofit fontScale="90000"/>
          </a:bodyPr>
          <a:lstStyle/>
          <a:p>
            <a:pPr algn="l"/>
            <a:r>
              <a:rPr lang="es-MX" b="1" u="sng" dirty="0">
                <a:solidFill>
                  <a:schemeClr val="accent1">
                    <a:lumMod val="75000"/>
                  </a:schemeClr>
                </a:solidFill>
              </a:rPr>
              <a:t>Temas de vital importancia en ciberseguridad en </a:t>
            </a:r>
            <a:r>
              <a:rPr lang="es-MX" b="1" u="sng" dirty="0" err="1">
                <a:solidFill>
                  <a:schemeClr val="accent1">
                    <a:lumMod val="75000"/>
                  </a:schemeClr>
                </a:solidFill>
              </a:rPr>
              <a:t>python</a:t>
            </a:r>
            <a:endParaRPr lang="es-MX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D12D93-D022-449E-A5F1-FD0E4628C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7502" y="2248930"/>
            <a:ext cx="9144000" cy="3305433"/>
          </a:xfrm>
          <a:noFill/>
        </p:spPr>
        <p:txBody>
          <a:bodyPr>
            <a:normAutofit lnSpcReduction="10000"/>
          </a:bodyPr>
          <a:lstStyle/>
          <a:p>
            <a:pPr algn="l"/>
            <a:endParaRPr lang="es-MX" b="1" dirty="0"/>
          </a:p>
          <a:p>
            <a:r>
              <a:rPr lang="es-MX" sz="3600" i="1" dirty="0">
                <a:solidFill>
                  <a:schemeClr val="accent1">
                    <a:lumMod val="75000"/>
                  </a:schemeClr>
                </a:solidFill>
              </a:rPr>
              <a:t>Integrantes: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i="1" dirty="0">
                <a:solidFill>
                  <a:schemeClr val="accent1">
                    <a:lumMod val="75000"/>
                  </a:schemeClr>
                </a:solidFill>
              </a:rPr>
              <a:t>Nombre del alumno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i="1" dirty="0">
                <a:solidFill>
                  <a:schemeClr val="accent1">
                    <a:lumMod val="75000"/>
                  </a:schemeClr>
                </a:solidFill>
              </a:rPr>
              <a:t>Materia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i="1" dirty="0">
                <a:solidFill>
                  <a:schemeClr val="accent1">
                    <a:lumMod val="75000"/>
                  </a:schemeClr>
                </a:solidFill>
              </a:rPr>
              <a:t>Profesor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i="1" dirty="0">
                <a:solidFill>
                  <a:schemeClr val="accent1">
                    <a:lumMod val="75000"/>
                  </a:schemeClr>
                </a:solidFill>
              </a:rPr>
              <a:t>Fecha</a:t>
            </a:r>
          </a:p>
          <a:p>
            <a:pPr algn="l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783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E9CA3-BB1B-4EA5-8157-E874511EB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" y="103188"/>
            <a:ext cx="9144000" cy="2387600"/>
          </a:xfrm>
        </p:spPr>
        <p:txBody>
          <a:bodyPr>
            <a:noAutofit/>
          </a:bodyPr>
          <a:lstStyle/>
          <a:p>
            <a:r>
              <a:rPr lang="es-MX" sz="3600" b="1" u="sng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¿Por qué es importante la ciberseguridad en Python?</a:t>
            </a:r>
            <a:br>
              <a:rPr lang="es-MX" sz="3600" b="1" u="sng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</a:br>
            <a:r>
              <a:rPr lang="es-MX" sz="3600" b="1" u="sng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Python es uno de los lenguajes más utilizados en:</a:t>
            </a:r>
            <a:br>
              <a:rPr lang="es-MX" sz="3600" b="1" u="sng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</a:br>
            <a:endParaRPr lang="es-MX" sz="3600" b="1" u="sng" dirty="0">
              <a:solidFill>
                <a:schemeClr val="accent1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C81374-3A6F-43DC-B421-B2CCC129A1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0976" y="2769978"/>
            <a:ext cx="8020174" cy="331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Desarrollo web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Inteligencia artificial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Automatización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Ciencia de datos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DevOps </a:t>
            </a:r>
          </a:p>
          <a:p>
            <a:r>
              <a:rPr lang="es-MX" sz="1400" b="1" dirty="0">
                <a:solidFill>
                  <a:schemeClr val="accent1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Problema:</a:t>
            </a:r>
          </a:p>
          <a:p>
            <a:r>
              <a:rPr lang="es-MX" sz="1400" dirty="0">
                <a:solidFill>
                  <a:schemeClr val="accent1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Su popularidad también lo convierte en un objetivo frecuente de ataques informáticos.</a:t>
            </a:r>
          </a:p>
          <a:p>
            <a:r>
              <a:rPr lang="es-MX" sz="1400" b="1" dirty="0">
                <a:solidFill>
                  <a:schemeClr val="accent1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Objetivo:</a:t>
            </a:r>
          </a:p>
          <a:p>
            <a:r>
              <a:rPr lang="es-MX" sz="1400" dirty="0">
                <a:solidFill>
                  <a:schemeClr val="accent1">
                    <a:lumMod val="20000"/>
                    <a:lumOff val="80000"/>
                  </a:schemeClr>
                </a:solidFill>
                <a:highlight>
                  <a:srgbClr val="000000"/>
                </a:highlight>
              </a:rPr>
              <a:t>Conocer prácticas de seguridad y ataques comunes para desarrollar aplicaciones seguras.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97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D3E23-13CF-43EE-BA2D-A03F1841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82562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s-MX" sz="4000" b="1" u="sng" dirty="0">
                <a:solidFill>
                  <a:schemeClr val="accent1">
                    <a:lumMod val="75000"/>
                  </a:schemeClr>
                </a:solidFill>
              </a:rPr>
              <a:t>Gestión de dependencias</a:t>
            </a:r>
            <a:br>
              <a:rPr lang="es-MX" sz="40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MX" sz="4000" u="sng" dirty="0">
                <a:solidFill>
                  <a:schemeClr val="accent1">
                    <a:lumMod val="75000"/>
                  </a:schemeClr>
                </a:solidFill>
              </a:rPr>
              <a:t>Las librerías externas pueden contener:</a:t>
            </a:r>
            <a:br>
              <a:rPr lang="es-MX" sz="4000" u="sng" dirty="0">
                <a:solidFill>
                  <a:schemeClr val="accent1">
                    <a:lumMod val="75000"/>
                  </a:schemeClr>
                </a:solidFill>
              </a:rPr>
            </a:br>
            <a:endParaRPr lang="es-MX" sz="40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3C6C74-6B97-44D5-ABA5-A28724EF7B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2925" y="1339147"/>
            <a:ext cx="66294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Vulnerabilidades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Malware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Dependencias inseguras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Buenas prácticas: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Utilizar entornos virtuales (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venv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) 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Mantener actualizado 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requirements.txt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Analizar dependencias con: </a:t>
            </a:r>
          </a:p>
          <a:p>
            <a:pPr marL="457200" marR="0" lvl="1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pip-audit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457200" marR="0" lvl="1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safety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67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CD171-F0F9-481F-8876-D8133BB3B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" y="179388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s-MX" b="1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  <a:t>Manejo de secretos</a:t>
            </a:r>
            <a:br>
              <a:rPr lang="es-MX" b="1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</a:br>
            <a:r>
              <a:rPr lang="es-MX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  <a:t>Los secretos incluyen:</a:t>
            </a:r>
            <a:br>
              <a:rPr lang="es-MX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</a:br>
            <a:endParaRPr lang="es-MX" dirty="0">
              <a:solidFill>
                <a:schemeClr val="accent1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74FABF-31FC-4999-A705-7A64B90F91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52975" y="1134686"/>
            <a:ext cx="694453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Contraseñas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Tokens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API </a:t>
            </a:r>
            <a:r>
              <a:rPr kumimoji="0" lang="es-MX" altLang="es-MX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Keys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Certificados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Error común: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Guardar claves directamente en el código.</a:t>
            </a:r>
            <a:endParaRPr kumimoji="0" lang="es-MX" altLang="es-MX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Ejemplo inseguro: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API_KEY = "123456"</a:t>
            </a: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7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36087E8-EE01-4F34-89E0-FD07A54AC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2313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s-MX" sz="5400" b="1" dirty="0">
                <a:solidFill>
                  <a:srgbClr val="0070C0"/>
                </a:solidFill>
              </a:rPr>
              <a:t>Validación de entradas</a:t>
            </a:r>
            <a:br>
              <a:rPr lang="es-MX" sz="5400" b="1" dirty="0">
                <a:solidFill>
                  <a:srgbClr val="0070C0"/>
                </a:solidFill>
              </a:rPr>
            </a:br>
            <a:r>
              <a:rPr lang="es-MX" sz="5400" dirty="0">
                <a:solidFill>
                  <a:srgbClr val="0070C0"/>
                </a:solidFill>
              </a:rPr>
              <a:t>Toda entrada del usuario debe considerarse peligrosa.</a:t>
            </a:r>
            <a:br>
              <a:rPr lang="es-MX" sz="5400" dirty="0">
                <a:solidFill>
                  <a:srgbClr val="0070C0"/>
                </a:solidFill>
              </a:rPr>
            </a:br>
            <a:endParaRPr lang="es-MX" sz="5400" dirty="0">
              <a:solidFill>
                <a:srgbClr val="0070C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225D09-AC55-4E36-8A94-F45AC1805E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48525" y="1297266"/>
            <a:ext cx="395012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Riesgos: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Inyección SQL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Inyección de comandos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XSS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808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Buenas prácticas: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Validar tipos de datos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Limitar longitud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Usar listas blancas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Rechazar caracteres peligrosos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808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" panose="020B0604020202020204" pitchFamily="34" charset="0"/>
              </a:rPr>
              <a:t>Ejemplo: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edad = input("Edad: ")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</a:b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if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edad.isdigit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():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print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8080"/>
                </a:highlight>
                <a:latin typeface="Arial Unicode MS"/>
              </a:rPr>
              <a:t>("Entrada válida")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808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26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D7A74-A886-4716-8DB0-2E157CFB8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150" y="822324"/>
            <a:ext cx="9105900" cy="2433638"/>
          </a:xfrm>
        </p:spPr>
        <p:txBody>
          <a:bodyPr>
            <a:normAutofit fontScale="90000"/>
          </a:bodyPr>
          <a:lstStyle/>
          <a:p>
            <a:pPr algn="r"/>
            <a:r>
              <a:rPr lang="es-MX" b="1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  <a:t>Saneamiento de datos</a:t>
            </a:r>
            <a:br>
              <a:rPr lang="es-MX" b="1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</a:br>
            <a:r>
              <a:rPr lang="es-MX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  <a:t>Consiste en limpiar o neutralizar información peligrosa.</a:t>
            </a:r>
            <a:br>
              <a:rPr lang="es-MX" dirty="0">
                <a:solidFill>
                  <a:schemeClr val="accent1">
                    <a:lumMod val="75000"/>
                  </a:schemeClr>
                </a:solidFill>
                <a:highlight>
                  <a:srgbClr val="00FFFF"/>
                </a:highlight>
              </a:rPr>
            </a:br>
            <a:endParaRPr lang="es-MX" dirty="0">
              <a:solidFill>
                <a:schemeClr val="accent1">
                  <a:lumMod val="75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23BC6C-7E1D-4CD8-B36C-5F30159B8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5125"/>
            <a:ext cx="6867525" cy="235267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s-MX" sz="8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8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Evitar scripts maliciosos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8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Proteger bases de datos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8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Impedir ejecución de código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344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A8008-30A1-4256-BB56-0F4F8E44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71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s-MX" sz="3600" b="1" dirty="0">
                <a:solidFill>
                  <a:srgbClr val="00B0F0"/>
                </a:solidFill>
                <a:highlight>
                  <a:srgbClr val="808080"/>
                </a:highlight>
              </a:rPr>
              <a:t>Principio de menor privilegio</a:t>
            </a:r>
            <a:br>
              <a:rPr lang="es-MX" sz="3600" b="1" dirty="0">
                <a:solidFill>
                  <a:srgbClr val="00B0F0"/>
                </a:solidFill>
                <a:highlight>
                  <a:srgbClr val="808080"/>
                </a:highlight>
              </a:rPr>
            </a:br>
            <a:r>
              <a:rPr lang="es-MX" sz="3600" dirty="0">
                <a:solidFill>
                  <a:srgbClr val="00B0F0"/>
                </a:solidFill>
                <a:highlight>
                  <a:srgbClr val="808080"/>
                </a:highlight>
              </a:rPr>
              <a:t>Una aplicación solo debe tener:</a:t>
            </a:r>
            <a:br>
              <a:rPr lang="es-MX" sz="3600" dirty="0">
                <a:solidFill>
                  <a:srgbClr val="00B0F0"/>
                </a:solidFill>
                <a:highlight>
                  <a:srgbClr val="808080"/>
                </a:highlight>
              </a:rPr>
            </a:br>
            <a:r>
              <a:rPr lang="es-MX" sz="3600" b="1" dirty="0">
                <a:solidFill>
                  <a:srgbClr val="00B0F0"/>
                </a:solidFill>
                <a:highlight>
                  <a:srgbClr val="808080"/>
                </a:highlight>
              </a:rPr>
              <a:t>Los permisos estrictamente necesarios.</a:t>
            </a:r>
            <a:br>
              <a:rPr lang="es-MX" sz="3600" b="1" dirty="0">
                <a:solidFill>
                  <a:srgbClr val="00B0F0"/>
                </a:solidFill>
                <a:highlight>
                  <a:srgbClr val="808080"/>
                </a:highlight>
              </a:rPr>
            </a:br>
            <a:endParaRPr lang="es-MX" sz="3600" dirty="0">
              <a:solidFill>
                <a:srgbClr val="00B0F0"/>
              </a:solidFill>
              <a:highlight>
                <a:srgbClr val="808080"/>
              </a:highligh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189469-DBBA-4410-AED0-58B7CF4C9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1975" y="2182813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s-MX" sz="11200" b="1" dirty="0">
                <a:solidFill>
                  <a:schemeClr val="accent1">
                    <a:lumMod val="75000"/>
                  </a:schemeClr>
                </a:solidFill>
              </a:rPr>
              <a:t>Beneficios: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Reduce daños en ataques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Limita accesos indebidos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Minimiza vulnerabilidades </a:t>
            </a:r>
          </a:p>
          <a:p>
            <a:r>
              <a:rPr lang="es-MX" sz="11200" b="1" dirty="0">
                <a:solidFill>
                  <a:schemeClr val="accent1">
                    <a:lumMod val="75000"/>
                  </a:schemeClr>
                </a:solidFill>
              </a:rPr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No ejecutar como administrador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Limitar permisos en BD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200" dirty="0">
                <a:solidFill>
                  <a:schemeClr val="accent1">
                    <a:lumMod val="75000"/>
                  </a:schemeClr>
                </a:solidFill>
              </a:rPr>
              <a:t>Restringir archivos críticos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0677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C6539-FC4A-4FD4-933C-59133D47D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-144462"/>
            <a:ext cx="9144000" cy="2387600"/>
          </a:xfrm>
        </p:spPr>
        <p:txBody>
          <a:bodyPr>
            <a:normAutofit/>
          </a:bodyPr>
          <a:lstStyle/>
          <a:p>
            <a:r>
              <a:rPr lang="es-MX" sz="3600" b="1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Actualización del entorno</a:t>
            </a:r>
            <a:br>
              <a:rPr lang="es-MX" sz="3600" b="1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</a:br>
            <a:r>
              <a:rPr lang="es-MX" sz="36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Las vulnerabilidades suelen corregirse mediante actualizaciones.</a:t>
            </a:r>
            <a:br>
              <a:rPr lang="es-MX" sz="36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</a:br>
            <a:endParaRPr lang="es-MX" sz="3600" dirty="0">
              <a:solidFill>
                <a:schemeClr val="accent1">
                  <a:lumMod val="5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DD98EE-E049-43DF-B1C0-ABDBF2E1CF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9125" y="1330246"/>
            <a:ext cx="380585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Mantener actualizado: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Librerías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Frameworks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Sistema operativo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Comando útil: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 Unicode MS"/>
              </a:rPr>
              <a:t>pip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 Unicode MS"/>
              </a:rPr>
              <a:t>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 Unicode MS"/>
              </a:rPr>
              <a:t>list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 Unicode MS"/>
              </a:rPr>
              <a:t> --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 Unicode MS"/>
              </a:rPr>
              <a:t>outdated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</a:rPr>
              <a:t>Importancia:</a:t>
            </a:r>
            <a:endParaRPr kumimoji="0" lang="es-MX" altLang="es-MX" b="1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highlight>
                <a:srgbClr val="0000FF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Corregir vulnerabilidades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Mejorar estabilidad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FF"/>
                </a:highlight>
                <a:latin typeface="Arial" panose="020B0604020202020204" pitchFamily="34" charset="0"/>
              </a:rPr>
              <a:t>Reducir riesgos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3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0B279-C700-47CF-BD72-F1CF63122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6675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s-MX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Inyección de código (</a:t>
            </a:r>
            <a:r>
              <a:rPr lang="es-MX" b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eval</a:t>
            </a:r>
            <a:r>
              <a:rPr lang="es-MX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 / </a:t>
            </a:r>
            <a:r>
              <a:rPr lang="es-MX" b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exec</a:t>
            </a:r>
            <a:r>
              <a:rPr lang="es-MX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)</a:t>
            </a:r>
            <a:br>
              <a:rPr lang="es-MX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</a:br>
            <a:r>
              <a:rPr lang="es-MX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Funciones peligrosas:</a:t>
            </a:r>
            <a:br>
              <a:rPr lang="es-MX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</a:br>
            <a:endParaRPr lang="es-MX" dirty="0">
              <a:solidFill>
                <a:schemeClr val="tx2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97C85C-A749-4766-8E3D-7F6EF163F0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77050" y="1089898"/>
            <a:ext cx="4275594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eval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()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lvl="7" algn="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MX" altLang="es-MX" sz="12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exec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()</a:t>
            </a:r>
            <a:r>
              <a:rPr kumimoji="0" lang="es-MX" altLang="es-MX" sz="12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sz="12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Ejemplo vulnerable: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entrada = input()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eval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(entrada)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Riesgos:</a:t>
            </a: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Ejecución remota de código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Robo de información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Control del sistema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Solución: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Evitar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eval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()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</a:rPr>
              <a:t> y validar entradas.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520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84FF9-931C-4E2A-A739-A46FA4D34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1813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s-MX" sz="4000" b="1" dirty="0">
                <a:highlight>
                  <a:srgbClr val="C0C0C0"/>
                </a:highlight>
              </a:rPr>
              <a:t>Inyección SQL</a:t>
            </a:r>
            <a:br>
              <a:rPr lang="es-MX" sz="4000" b="1" dirty="0">
                <a:highlight>
                  <a:srgbClr val="C0C0C0"/>
                </a:highlight>
              </a:rPr>
            </a:br>
            <a:r>
              <a:rPr lang="es-MX" sz="4000" dirty="0">
                <a:highlight>
                  <a:srgbClr val="C0C0C0"/>
                </a:highlight>
              </a:rPr>
              <a:t>Ocurre cuando datos del usuario se insertan directamente en consultas SQL.</a:t>
            </a:r>
            <a:br>
              <a:rPr lang="es-MX" sz="4000" dirty="0">
                <a:highlight>
                  <a:srgbClr val="C0C0C0"/>
                </a:highlight>
              </a:rPr>
            </a:br>
            <a:r>
              <a:rPr lang="es-MX" sz="4000" b="1" dirty="0">
                <a:highlight>
                  <a:srgbClr val="C0C0C0"/>
                </a:highlight>
              </a:rPr>
              <a:t>Ejemplo vulnerable:</a:t>
            </a:r>
            <a:br>
              <a:rPr lang="es-MX" sz="4000" b="1" dirty="0">
                <a:highlight>
                  <a:srgbClr val="C0C0C0"/>
                </a:highlight>
              </a:rPr>
            </a:br>
            <a:endParaRPr lang="es-MX" sz="4000" dirty="0">
              <a:highlight>
                <a:srgbClr val="C0C0C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8671CC-5C42-4799-81B5-A418FEEDCC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6153" y="2398594"/>
            <a:ext cx="932184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query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 = "SELECT * FROM usuarios WHERE nombre='" + nombre + "'"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highlight>
                <a:srgbClr val="000000"/>
              </a:highlight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</a:rPr>
              <a:t>Solución segura:</a:t>
            </a: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cursor.execute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"SELECT * FROM usuarios WHERE nombre=%s",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(nombre,)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highlight>
                <a:srgbClr val="000000"/>
              </a:highlight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</a:rPr>
              <a:t>Consecuencias:</a:t>
            </a: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Robo de datos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Eliminación de información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Acceso no autorizado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9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2F6CB55-15B0-4538-AD53-636FDB2CDD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2365" y="43934"/>
            <a:ext cx="104274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Deserialización insegura (</a:t>
            </a:r>
            <a:r>
              <a:rPr kumimoji="0" lang="es-MX" altLang="es-MX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pickle</a:t>
            </a:r>
            <a:r>
              <a:rPr kumimoji="0" lang="es-MX" altLang="es-MX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pickle</a:t>
            </a: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 puede ejecutar código malicioso al </a:t>
            </a:r>
            <a:r>
              <a:rPr kumimoji="0" lang="es-MX" altLang="es-MX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deserializar</a:t>
            </a: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 objetos.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B2CAAFE-0F9D-4635-9A70-16BDE8831F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2694" y="1997949"/>
            <a:ext cx="483337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Alternativa segura: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import</a:t>
            </a: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 </a:t>
            </a:r>
            <a:r>
              <a:rPr kumimoji="0" lang="es-MX" altLang="es-MX" sz="4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json</a:t>
            </a:r>
            <a:b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</a:br>
            <a:r>
              <a:rPr kumimoji="0" lang="es-MX" altLang="es-MX" sz="4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json.loads</a:t>
            </a: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highlight>
                  <a:srgbClr val="000000"/>
                </a:highlight>
                <a:latin typeface="Arial Unicode MS"/>
              </a:rPr>
              <a:t>(datos)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37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7CDF1-48A4-42B7-91F6-3A9E40605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775" y="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s-MX" sz="3600" b="1" dirty="0">
                <a:solidFill>
                  <a:srgbClr val="0070C0"/>
                </a:solidFill>
                <a:highlight>
                  <a:srgbClr val="00FFFF"/>
                </a:highlight>
              </a:rPr>
              <a:t>Ataques de día cero en librerías</a:t>
            </a:r>
            <a:br>
              <a:rPr lang="es-MX" sz="3600" b="1" dirty="0">
                <a:solidFill>
                  <a:srgbClr val="0070C0"/>
                </a:solidFill>
                <a:highlight>
                  <a:srgbClr val="00FFFF"/>
                </a:highlight>
              </a:rPr>
            </a:br>
            <a:r>
              <a:rPr lang="es-MX" sz="3600" dirty="0">
                <a:solidFill>
                  <a:srgbClr val="0070C0"/>
                </a:solidFill>
                <a:highlight>
                  <a:srgbClr val="00FFFF"/>
                </a:highlight>
              </a:rPr>
              <a:t>Explotan vulnerabilidades desconocidas o recién descubiertas.</a:t>
            </a:r>
            <a:br>
              <a:rPr lang="es-MX" sz="3600" dirty="0">
                <a:solidFill>
                  <a:srgbClr val="0070C0"/>
                </a:solidFill>
                <a:highlight>
                  <a:srgbClr val="00FFFF"/>
                </a:highlight>
              </a:rPr>
            </a:br>
            <a:endParaRPr lang="es-MX" sz="3600" dirty="0">
              <a:solidFill>
                <a:srgbClr val="0070C0"/>
              </a:solidFill>
              <a:highlight>
                <a:srgbClr val="00FFFF"/>
              </a:highligh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260E94-3011-4CB7-9CA6-B2457491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8099" y="2114550"/>
            <a:ext cx="7991475" cy="2143125"/>
          </a:xfrm>
        </p:spPr>
        <p:txBody>
          <a:bodyPr>
            <a:noAutofit/>
          </a:bodyPr>
          <a:lstStyle/>
          <a:p>
            <a:r>
              <a:rPr lang="es-MX" sz="3600" b="1" dirty="0"/>
              <a:t>Objetivos comunes: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 err="1"/>
              <a:t>Frameworks</a:t>
            </a:r>
            <a:r>
              <a:rPr lang="es-MX" sz="3600" dirty="0"/>
              <a:t> populares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Dependencias vulnerables </a:t>
            </a:r>
          </a:p>
          <a:p>
            <a:r>
              <a:rPr lang="es-MX" sz="3600" b="1" dirty="0"/>
              <a:t>Prevención: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Actualizar librerías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Monitorear </a:t>
            </a:r>
            <a:r>
              <a:rPr lang="es-MX" sz="3600" dirty="0" err="1"/>
              <a:t>CVEs</a:t>
            </a:r>
            <a:r>
              <a:rPr lang="es-MX" sz="3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Usar análisis de seguridad</a:t>
            </a:r>
          </a:p>
          <a:p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400048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8DC84-869A-4062-823A-2D563B2F8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2725" y="531813"/>
            <a:ext cx="9144000" cy="2387600"/>
          </a:xfrm>
        </p:spPr>
        <p:txBody>
          <a:bodyPr>
            <a:noAutofit/>
          </a:bodyPr>
          <a:lstStyle/>
          <a:p>
            <a:pPr algn="just"/>
            <a:r>
              <a:rPr lang="es-MX" sz="4400" b="1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Secuestro de tipografía (</a:t>
            </a:r>
            <a:r>
              <a:rPr lang="es-MX" sz="4400" b="1" dirty="0" err="1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Typosquatting</a:t>
            </a:r>
            <a:r>
              <a:rPr lang="es-MX" sz="4400" b="1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)</a:t>
            </a:r>
            <a:br>
              <a:rPr lang="es-MX" sz="4400" b="1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</a:br>
            <a:r>
              <a:rPr lang="es-MX" sz="4400" dirty="0">
                <a:solidFill>
                  <a:schemeClr val="accent1">
                    <a:lumMod val="75000"/>
                  </a:schemeClr>
                </a:solidFill>
                <a:highlight>
                  <a:srgbClr val="C0C0C0"/>
                </a:highlight>
              </a:rPr>
              <a:t>Consiste en crear paquetes con nombres similares a librerías populares</a:t>
            </a:r>
            <a:r>
              <a:rPr lang="es-MX" sz="4400" dirty="0"/>
              <a:t>.</a:t>
            </a:r>
            <a:br>
              <a:rPr lang="es-MX" sz="4400" dirty="0"/>
            </a:br>
            <a:endParaRPr lang="es-MX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FDCDCE-367E-4A64-86D8-0CC229B756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9100" y="2036644"/>
            <a:ext cx="505298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Ejemplos: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 Unicode MS"/>
              </a:rPr>
              <a:t>requests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</a:rPr>
              <a:t> →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 Unicode MS"/>
              </a:rPr>
              <a:t>reqeusts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 Unicode MS"/>
              </a:rPr>
              <a:t>numpy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</a:rPr>
              <a:t> →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 Unicode MS"/>
              </a:rPr>
              <a:t>numpi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</a:rPr>
              <a:t> 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Objetivo: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Instalar malware accidentalmente.</a:t>
            </a:r>
            <a:endParaRPr kumimoji="0" lang="es-MX" altLang="es-MX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Prevención: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Revisar nombres cuidadosamente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Verificar reputación del paquete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Descargar desde fuentes oficiales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3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B5866-E0E2-4CBB-8494-F422D2FA1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just"/>
            <a:r>
              <a:rPr lang="es-MX" sz="48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Inyección de comandos (</a:t>
            </a:r>
            <a:r>
              <a:rPr lang="es-MX" sz="4800" b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Command</a:t>
            </a:r>
            <a:r>
              <a:rPr lang="es-MX" sz="48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 </a:t>
            </a:r>
            <a:r>
              <a:rPr lang="es-MX" sz="4800" b="1" dirty="0" err="1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Injection</a:t>
            </a:r>
            <a:r>
              <a:rPr lang="es-MX" sz="48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)</a:t>
            </a:r>
            <a:br>
              <a:rPr lang="es-MX" sz="4800" b="1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</a:br>
            <a:r>
              <a:rPr lang="es-MX" sz="480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  <a:t>Sucede cuando comandos del sistema reciben entradas sin validar.</a:t>
            </a:r>
            <a:br>
              <a:rPr lang="es-MX" sz="480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00FFFF"/>
                </a:highlight>
              </a:rPr>
            </a:br>
            <a:endParaRPr lang="es-MX" sz="4800" dirty="0">
              <a:solidFill>
                <a:schemeClr val="tx2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3FF25D-0967-4AAE-A0F1-7893DDE0BF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04974" y="2665294"/>
            <a:ext cx="886777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Ejemplo vulnerable: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import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 os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os.system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("ping " + host)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highlight>
                <a:srgbClr val="C0C0C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</a:rPr>
              <a:t>Riesgos:</a:t>
            </a: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Ejecución arbitraria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Robo de datos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Control del servidor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highlight>
                <a:srgbClr val="C0C0C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</a:rPr>
              <a:t>Alternativa segura: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import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 </a:t>
            </a: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subprocess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</a:br>
            <a:r>
              <a:rPr kumimoji="0" lang="es-MX" altLang="es-MX" sz="20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subprocess.run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highlight>
                  <a:srgbClr val="C0C0C0"/>
                </a:highlight>
                <a:latin typeface="Arial Unicode MS"/>
              </a:rPr>
              <a:t>(["ping", host])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896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20023-21F5-40CC-816B-0EEF8DBD3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47650"/>
            <a:ext cx="9144000" cy="2576513"/>
          </a:xfrm>
        </p:spPr>
        <p:txBody>
          <a:bodyPr/>
          <a:lstStyle/>
          <a:p>
            <a:r>
              <a:rPr lang="es-MX" b="1" dirty="0">
                <a:highlight>
                  <a:srgbClr val="C0C0C0"/>
                </a:highlight>
              </a:rPr>
              <a:t>Recomendaciones generales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77C5E-BE51-48DA-A693-0357D9B69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0" y="232886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Validar entradas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Mantener dependencias actualizadas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Evitar funciones peligrosas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Aplicar mínimo privilegio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Realizar auditorías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Monitorear vulnerabilidades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0" dirty="0">
                <a:solidFill>
                  <a:schemeClr val="accent1">
                    <a:lumMod val="50000"/>
                  </a:schemeClr>
                </a:solidFill>
                <a:highlight>
                  <a:srgbClr val="00FFFF"/>
                </a:highlight>
              </a:rPr>
              <a:t>Capacitar desarrolladores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464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E10E8-4B70-4FCB-ABA7-CAB5DC41D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>
                <a:highlight>
                  <a:srgbClr val="00FFFF"/>
                </a:highlight>
              </a:rPr>
              <a:t>Conclusión</a:t>
            </a:r>
            <a:br>
              <a:rPr lang="es-MX" b="1" dirty="0">
                <a:highlight>
                  <a:srgbClr val="00FFFF"/>
                </a:highlight>
              </a:rPr>
            </a:br>
            <a:r>
              <a:rPr lang="es-MX" dirty="0">
                <a:highlight>
                  <a:srgbClr val="00FFFF"/>
                </a:highlight>
              </a:rPr>
              <a:t>La seguridad en Python depende de:</a:t>
            </a:r>
            <a:br>
              <a:rPr lang="es-MX" dirty="0">
                <a:highlight>
                  <a:srgbClr val="00FFFF"/>
                </a:highlight>
              </a:rPr>
            </a:br>
            <a:endParaRPr lang="es-MX" dirty="0">
              <a:highlight>
                <a:srgbClr val="00FFFF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16AEB5-029A-43B6-A9B2-A584DD5D1C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9834" y="3328472"/>
            <a:ext cx="5896166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Buenas prácticas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Actualización constante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Prevención proactiva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Uso seguro de librerías </a:t>
            </a:r>
          </a:p>
        </p:txBody>
      </p:sp>
    </p:spTree>
    <p:extLst>
      <p:ext uri="{BB962C8B-B14F-4D97-AF65-F5344CB8AC3E}">
        <p14:creationId xmlns:p14="http://schemas.microsoft.com/office/powerpoint/2010/main" val="1982880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627</Words>
  <Application>Microsoft Office PowerPoint</Application>
  <PresentationFormat>Panorámica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Tema de Office</vt:lpstr>
      <vt:lpstr>Temas de vital importancia en ciberseguridad en python</vt:lpstr>
      <vt:lpstr>¿Por qué es importante la ciberseguridad en Python? Python es uno de los lenguajes más utilizados en: </vt:lpstr>
      <vt:lpstr>Gestión de dependencias Las librerías externas pueden contener: </vt:lpstr>
      <vt:lpstr>Manejo de secretos Los secretos incluyen: </vt:lpstr>
      <vt:lpstr>Validación de entradas Toda entrada del usuario debe considerarse peligrosa. </vt:lpstr>
      <vt:lpstr>Saneamiento de datos Consiste en limpiar o neutralizar información peligrosa. </vt:lpstr>
      <vt:lpstr>Principio de menor privilegio Una aplicación solo debe tener: Los permisos estrictamente necesarios. </vt:lpstr>
      <vt:lpstr>Actualización del entorno Las vulnerabilidades suelen corregirse mediante actualizaciones. </vt:lpstr>
      <vt:lpstr>Inyección de código (eval / exec) Funciones peligrosas: </vt:lpstr>
      <vt:lpstr>Inyección SQL Ocurre cuando datos del usuario se insertan directamente en consultas SQL. Ejemplo vulnerable: </vt:lpstr>
      <vt:lpstr>Deserialización insegura (pickle) pickle puede ejecutar código malicioso al deserializar objetos.</vt:lpstr>
      <vt:lpstr>Ataques de día cero en librerías Explotan vulnerabilidades desconocidas o recién descubiertas. </vt:lpstr>
      <vt:lpstr>Secuestro de tipografía (Typosquatting) Consiste en crear paquetes con nombres similares a librerías populares. </vt:lpstr>
      <vt:lpstr>Inyección de comandos (Command Injection) Sucede cuando comandos del sistema reciben entradas sin validar. </vt:lpstr>
      <vt:lpstr>Recomendaciones generales </vt:lpstr>
      <vt:lpstr>Conclusión La seguridad en Python depende de: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Temas de vital importancia en ciberseguridad en python</dc:title>
  <dc:creator>Alumno</dc:creator>
  <cp:lastModifiedBy>Alumno</cp:lastModifiedBy>
  <cp:revision>7</cp:revision>
  <dcterms:created xsi:type="dcterms:W3CDTF">2026-05-27T23:31:22Z</dcterms:created>
  <dcterms:modified xsi:type="dcterms:W3CDTF">2026-05-28T00:30:42Z</dcterms:modified>
</cp:coreProperties>
</file>